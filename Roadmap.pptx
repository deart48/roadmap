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319638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028420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06.06.2026</a:t>
            </a:fld>
            <a:endParaRPr lang="ru-RU"/>
          </a:p>
        </p:txBody>
      </p:sp>
      <p:sp>
        <p:nvSpPr>
          <p:cNvPr id="2028057454" name="Рисунок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744254508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2108119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15714423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58D4CF-DBBE-1916-ABA7-D57C0C8021E3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5625F3-FA9B-8667-11DC-5698A49F323D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47535-D246-6DED-CE93-C8DED4452F9B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44C14A-F8D3-35D1-C3B6-5B7F509A55D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AC517-8BA4-9FE1-B38D-1E424EF112D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C82B5-E11D-E14B-C44F-8FC036AE6ADC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481A7B-66EE-369C-41E4-B7D2FFB879D9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D9BF7D-0478-54D7-062A-A9C38DB7D478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841082-2F8E-8296-AE50-D0A6BB021B5E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108A46-DB5E-341E-A14D-D8ABAA9D0F2A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26A9D3-D73D-49F1-DDE1-64391AD85964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108D-B9AB-B30A-C254-B9E80DC560D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>
            <a:extLst>
              <a:ext uri="{FF2B5EF4-FFF2-40B4-BE49-F238E27FC236}">
                <a16:creationId xmlns:a16="http://schemas.microsoft.com/office/drawing/2014/main" id="{92D4894A-DEC9-78FD-C082-E6352574A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>
            <a:extLst>
              <a:ext uri="{FF2B5EF4-FFF2-40B4-BE49-F238E27FC236}">
                <a16:creationId xmlns:a16="http://schemas.microsoft.com/office/drawing/2014/main" id="{157C44FC-774F-44E2-4271-30556110EB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>
            <a:extLst>
              <a:ext uri="{FF2B5EF4-FFF2-40B4-BE49-F238E27FC236}">
                <a16:creationId xmlns:a16="http://schemas.microsoft.com/office/drawing/2014/main" id="{B33082B5-999B-C921-78D5-5ABF0C997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13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46536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0041999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25067226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74108428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1162950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2581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64375733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39792750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112044561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427923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5206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5674354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2469865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97756103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397614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549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8367918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900589912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09710378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51490915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6948843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348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45671561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1032065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00681953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59484755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21266108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71474344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1543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1611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9565128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151322658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466293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8478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1244047520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68832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12264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57375875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46162843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313494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175448359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581967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4772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94940822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</a:p>
        </p:txBody>
      </p:sp>
      <p:sp>
        <p:nvSpPr>
          <p:cNvPr id="91431841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679719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30278862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0162493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84396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1885256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72136374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130293789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009505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733174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423347348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5565041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171360705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458451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2632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73454795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2297177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06.06.2026</a:t>
            </a:fld>
            <a:endParaRPr lang="ru-RU"/>
          </a:p>
        </p:txBody>
      </p:sp>
      <p:sp>
        <p:nvSpPr>
          <p:cNvPr id="6179061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18239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/>
          <p:cNvSpPr>
            <a:spLocks noGrp="1"/>
          </p:cNvSpPr>
          <p:nvPr>
            <p:ph type="ctrTitle"/>
          </p:nvPr>
        </p:nvSpPr>
        <p:spPr bwMode="auto">
          <a:xfrm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мобильного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приложения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Roadmap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lang="ru-RU" dirty="0"/>
          </a:p>
        </p:txBody>
      </p:sp>
      <p:sp>
        <p:nvSpPr>
          <p:cNvPr id="291382556" name="Subtitle 2"/>
          <p:cNvSpPr>
            <a:spLocks noGrp="1"/>
          </p:cNvSpPr>
          <p:nvPr>
            <p:ph type="subTitle" idx="1"/>
          </p:nvPr>
        </p:nvSpPr>
        <p:spPr bwMode="auto">
          <a:xfrm>
            <a:off x="5471550" y="5106987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Обучающийся: </a:t>
            </a:r>
            <a:r>
              <a:rPr lang="ru-RU" sz="2000" dirty="0">
                <a:latin typeface="Arial"/>
                <a:ea typeface="Arial"/>
                <a:cs typeface="Arial"/>
              </a:rPr>
              <a:t>Труфанов В.Д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. 3 курс</a:t>
            </a:r>
            <a:endParaRPr sz="20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Тарасов В.С.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ст. преподаватель</a:t>
            </a:r>
            <a:endParaRPr sz="20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Консультант: Ушаков В.А. ассистент</a:t>
            </a:r>
            <a:endParaRPr lang="ru-RU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88542254" name="Subtitle 2"/>
          <p:cNvSpPr>
            <a:spLocks noGrp="1"/>
          </p:cNvSpPr>
          <p:nvPr/>
        </p:nvSpPr>
        <p:spPr bwMode="auto">
          <a:xfrm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/>
          </a:p>
          <a:p>
            <a:pPr>
              <a:defRPr/>
            </a:pPr>
            <a:endParaRPr sz="36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 компьютерных наук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 программирования и информационных технологий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6190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Проблемы и актуальность</a:t>
            </a:r>
            <a:endParaRPr dirty="0"/>
          </a:p>
        </p:txBody>
      </p:sp>
      <p:sp>
        <p:nvSpPr>
          <p:cNvPr id="2026030433" name="Объект 2"/>
          <p:cNvSpPr>
            <a:spLocks noGrp="1"/>
          </p:cNvSpPr>
          <p:nvPr>
            <p:ph idx="1"/>
          </p:nvPr>
        </p:nvSpPr>
        <p:spPr bwMode="auto">
          <a:xfrm>
            <a:off x="736685" y="1573764"/>
            <a:ext cx="10515600" cy="49191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Проблемы:</a:t>
            </a:r>
            <a:endParaRPr sz="2400" b="0" i="0" u="none" strike="noStrike" cap="none" spc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28600" lvl="1">
              <a:spcBef>
                <a:spcPts val="1000"/>
              </a:spcBef>
              <a:spcAft>
                <a:spcPts val="800"/>
              </a:spcAft>
              <a:buSzPct val="100000"/>
              <a:defRPr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Избыток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разрозненной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учебной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информации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в IT</a:t>
            </a:r>
          </a:p>
          <a:p>
            <a:pPr marL="228600" lvl="1">
              <a:spcBef>
                <a:spcPts val="1000"/>
              </a:spcBef>
              <a:spcAft>
                <a:spcPts val="800"/>
              </a:spcAft>
              <a:buSzPct val="100000"/>
              <a:defRPr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Непонятна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последовательность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изучения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тем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28600" lvl="1">
              <a:spcBef>
                <a:spcPts val="1000"/>
              </a:spcBef>
              <a:spcAft>
                <a:spcPts val="1800"/>
              </a:spcAft>
              <a:buSzPct val="100000"/>
              <a:defRPr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Отсутствие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наглядной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траектории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обучения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Актуальность:</a:t>
            </a:r>
            <a:endParaRPr sz="2400" b="0" i="0" u="none" strike="noStrike" cap="none" spc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Высокий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не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покрываемый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спрос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на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IT-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специалистов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Культура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непрерывного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обучения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(lifelong learning)</a:t>
            </a:r>
          </a:p>
          <a:p>
            <a:pPr marL="457200" lvl="1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Популярность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концепции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дорожных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карт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(roadmap.sh)</a:t>
            </a:r>
          </a:p>
          <a:p>
            <a:pPr marL="457200" lvl="1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Переход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обучения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в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мобильный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cs typeface="Arial"/>
              </a:rPr>
              <a:t>формат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7264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Цель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работы</a:t>
            </a:r>
            <a:endParaRPr/>
          </a:p>
        </p:txBody>
      </p:sp>
      <p:sp>
        <p:nvSpPr>
          <p:cNvPr id="147414545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мобильного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Android-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предоставляющего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структурированным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дорожным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картам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обучения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профессиям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навыкам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сфере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информационных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технологий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возможностью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отслеживания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персонального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прогресса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освоения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4663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Постановка задачи</a:t>
            </a:r>
            <a:endParaRPr/>
          </a:p>
        </p:txBody>
      </p:sp>
      <p:sp>
        <p:nvSpPr>
          <p:cNvPr id="1047648642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рынка</a:t>
            </a:r>
            <a:r>
              <a:rPr lang="en-US" dirty="0"/>
              <a:t> </a:t>
            </a:r>
            <a:r>
              <a:rPr lang="en-US" dirty="0" err="1"/>
              <a:t>образовательных</a:t>
            </a:r>
            <a:r>
              <a:rPr lang="en-US" dirty="0"/>
              <a:t> IT-</a:t>
            </a:r>
            <a:r>
              <a:rPr lang="en-US" dirty="0" err="1"/>
              <a:t>приложений</a:t>
            </a:r>
            <a:r>
              <a:rPr lang="en-US" dirty="0"/>
              <a:t> и </a:t>
            </a:r>
            <a:r>
              <a:rPr lang="en-US" dirty="0" err="1"/>
              <a:t>сервисов</a:t>
            </a:r>
            <a:r>
              <a:rPr lang="en-US" dirty="0"/>
              <a:t> </a:t>
            </a:r>
            <a:r>
              <a:rPr lang="en-US" dirty="0" err="1"/>
              <a:t>дорожных</a:t>
            </a:r>
            <a:r>
              <a:rPr lang="en-US" dirty="0"/>
              <a:t> </a:t>
            </a:r>
            <a:r>
              <a:rPr lang="en-US" dirty="0" err="1"/>
              <a:t>карт</a:t>
            </a:r>
            <a:r>
              <a:rPr lang="en-US" dirty="0"/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/>
              <a:t>определение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  <a:r>
              <a:rPr lang="en-US" dirty="0" err="1"/>
              <a:t>разрабатываемой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средств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/>
              <a:t>проектирование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базы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  <a:r>
              <a:rPr lang="en-US" dirty="0" err="1"/>
              <a:t>разрабатываемой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18683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Обзор аналогов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1E7C01-16E1-6D3A-41D6-2725EB21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98" y="1940043"/>
            <a:ext cx="11309253" cy="4025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886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Средства реализации</a:t>
            </a:r>
            <a:endParaRPr dirty="0"/>
          </a:p>
        </p:txBody>
      </p:sp>
      <p:sp>
        <p:nvSpPr>
          <p:cNvPr id="172135595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Язык программирования </a:t>
            </a:r>
            <a:r>
              <a:rPr lang="ru-RU" sz="28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Kotlin</a:t>
            </a:r>
            <a:endParaRPr sz="2800" dirty="0"/>
          </a:p>
          <a:p>
            <a:pPr>
              <a:defRPr/>
            </a:pPr>
            <a:r>
              <a:rPr lang="ru-RU" sz="28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Jetpack</a:t>
            </a:r>
            <a:r>
              <a:rPr lang="ru-RU" sz="28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28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Compose</a:t>
            </a:r>
            <a:endParaRPr sz="2800" dirty="0"/>
          </a:p>
          <a:p>
            <a:pPr>
              <a:defRPr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ru-RU" sz="2800" b="0" i="0" u="none" strike="noStrike" cap="none" spc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Фреймворк </a:t>
            </a:r>
            <a:r>
              <a:rPr lang="ru-RU" sz="28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Ktor</a:t>
            </a:r>
            <a:endParaRPr sz="2800" dirty="0"/>
          </a:p>
          <a:p>
            <a:pPr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СУБД </a:t>
            </a:r>
            <a:r>
              <a:rPr lang="en-US" dirty="0" err="1"/>
              <a:t>PosgreSQL</a:t>
            </a:r>
            <a:endParaRPr sz="2800" dirty="0"/>
          </a:p>
          <a:p>
            <a:pPr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ORM </a:t>
            </a:r>
            <a:r>
              <a:rPr lang="ru-RU" sz="28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Exposed</a:t>
            </a:r>
            <a:endParaRPr dirty="0"/>
          </a:p>
        </p:txBody>
      </p:sp>
      <p:pic>
        <p:nvPicPr>
          <p:cNvPr id="1769410262" name="Рисунок 176941026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4103" y="2595456"/>
            <a:ext cx="2059105" cy="2015457"/>
          </a:xfrm>
          <a:prstGeom prst="rect">
            <a:avLst/>
          </a:prstGeom>
        </p:spPr>
      </p:pic>
      <p:pic>
        <p:nvPicPr>
          <p:cNvPr id="1251483890" name="Рисунок 1251483889"/>
          <p:cNvPicPr>
            <a:picLocks noChangeAspect="1"/>
          </p:cNvPicPr>
          <p:nvPr/>
        </p:nvPicPr>
        <p:blipFill rotWithShape="1">
          <a:blip r:embed="rId4"/>
          <a:srcRect l="36595" t="22543" r="36996" b="22842"/>
          <a:stretch/>
        </p:blipFill>
        <p:spPr bwMode="auto">
          <a:xfrm>
            <a:off x="7473011" y="499743"/>
            <a:ext cx="1541439" cy="1669132"/>
          </a:xfrm>
          <a:prstGeom prst="rect">
            <a:avLst/>
          </a:prstGeom>
        </p:spPr>
      </p:pic>
      <p:pic>
        <p:nvPicPr>
          <p:cNvPr id="541602336" name="Рисунок 54160233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734552" y="806451"/>
            <a:ext cx="2038348" cy="2038348"/>
          </a:xfrm>
          <a:prstGeom prst="rect">
            <a:avLst/>
          </a:prstGeom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5C7AA343-9AE6-12AC-4E09-17AA8E1C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5837" y="3003748"/>
            <a:ext cx="2346163" cy="169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9FE77766-D7D1-3AA4-6AE5-A24DDD6A4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757" y="4347919"/>
            <a:ext cx="2112033" cy="217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481BEF-DAD1-66F6-1BAD-C72AAE0EDC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63" y="699103"/>
            <a:ext cx="7646437" cy="6014760"/>
          </a:xfrm>
          <a:prstGeom prst="rect">
            <a:avLst/>
          </a:prstGeom>
        </p:spPr>
      </p:pic>
      <p:sp>
        <p:nvSpPr>
          <p:cNvPr id="424718340" name="Заголовок 1"/>
          <p:cNvSpPr>
            <a:spLocks noGrp="1"/>
          </p:cNvSpPr>
          <p:nvPr>
            <p:ph type="title"/>
          </p:nvPr>
        </p:nvSpPr>
        <p:spPr bwMode="auto">
          <a:xfrm>
            <a:off x="570722" y="439770"/>
            <a:ext cx="10515600" cy="1325563"/>
          </a:xfrm>
        </p:spPr>
        <p:txBody>
          <a:bodyPr/>
          <a:lstStyle/>
          <a:p>
            <a:pPr>
              <a:defRPr/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60474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err="1"/>
              <a:t>Диаграма</a:t>
            </a:r>
            <a:r>
              <a:rPr lang="ru-RU" dirty="0"/>
              <a:t> прецедентов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5D62F7-C4F2-0DEF-6E07-9B7158DA42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2"/>
          <a:stretch>
            <a:fillRect/>
          </a:stretch>
        </p:blipFill>
        <p:spPr>
          <a:xfrm>
            <a:off x="2189584" y="1342902"/>
            <a:ext cx="8366449" cy="5345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512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интерфейса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BD493AC-CE71-9A53-B662-6674824FE4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203" y="1331167"/>
            <a:ext cx="2347956" cy="517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54B7D6-A807-E785-D911-645B118BF8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583" y="1655121"/>
            <a:ext cx="2196640" cy="4837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291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Реализация интерфейса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21E259-700E-5D3C-A8C7-51F865AD57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644" y="845703"/>
            <a:ext cx="2346016" cy="5166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4D2CD3-B87C-3236-3848-E0D723065B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23" y="1690688"/>
            <a:ext cx="2038609" cy="4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23119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Реализация интерфейса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6661014-39D2-5A8D-C5B6-9256EE9622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723" y="1615186"/>
            <a:ext cx="2116228" cy="4659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7E0069-11C9-5B30-D900-54ED1814F6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363" y="1027906"/>
            <a:ext cx="2348749" cy="517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95853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Заключение</a:t>
            </a:r>
          </a:p>
        </p:txBody>
      </p:sp>
      <p:sp>
        <p:nvSpPr>
          <p:cNvPr id="1239171751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SamsungOne 800C"/>
                <a:ea typeface="SamsungOne 800C"/>
                <a:cs typeface="SamsungOne 800C"/>
              </a:rPr>
              <a:t>В результате проделанной работы </a:t>
            </a:r>
            <a:endParaRPr sz="2800" b="0" dirty="0"/>
          </a:p>
          <a:p>
            <a:pPr marL="0" indent="0">
              <a:buNone/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выполнены все поставленные задачи:</a:t>
            </a:r>
            <a:endParaRPr lang="ru-RU" sz="2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 sz="28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latin typeface="Arial"/>
                <a:cs typeface="Arial"/>
              </a:rPr>
              <a:t>проанализирован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рынок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образовательных</a:t>
            </a:r>
            <a:r>
              <a:rPr lang="en-US" dirty="0">
                <a:latin typeface="Arial"/>
                <a:cs typeface="Arial"/>
              </a:rPr>
              <a:t> IT-</a:t>
            </a:r>
            <a:r>
              <a:rPr lang="en-US" dirty="0" err="1">
                <a:latin typeface="Arial"/>
                <a:cs typeface="Arial"/>
              </a:rPr>
              <a:t>приложений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latin typeface="Arial"/>
                <a:cs typeface="Arial"/>
              </a:rPr>
              <a:t>определены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функции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разрабатываемой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системы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latin typeface="Arial"/>
                <a:cs typeface="Arial"/>
              </a:rPr>
              <a:t>выбраны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средства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разработки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latin typeface="Arial"/>
                <a:cs typeface="Arial"/>
              </a:rPr>
              <a:t>спроектирована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архитектура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приложения</a:t>
            </a:r>
            <a:r>
              <a:rPr lang="en-US" dirty="0">
                <a:latin typeface="Arial"/>
                <a:cs typeface="Arial"/>
              </a:rPr>
              <a:t> и </a:t>
            </a:r>
            <a:r>
              <a:rPr lang="en-US" dirty="0" err="1">
                <a:latin typeface="Arial"/>
                <a:cs typeface="Arial"/>
              </a:rPr>
              <a:t>базы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данных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dirty="0" err="1">
                <a:latin typeface="Arial"/>
                <a:cs typeface="Arial"/>
              </a:rPr>
              <a:t>реализованы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функции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разрабатываемой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системы</a:t>
            </a:r>
            <a:r>
              <a:rPr lang="en-US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B0613AB-C96C-896E-E4A4-0B83CAB13DA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>
            <a:extLst>
              <a:ext uri="{FF2B5EF4-FFF2-40B4-BE49-F238E27FC236}">
                <a16:creationId xmlns:a16="http://schemas.microsoft.com/office/drawing/2014/main" id="{98916717-C23B-1646-6406-EF46F1FD2FFE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мобильного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приложения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Roadmap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lang="ru-RU" dirty="0"/>
          </a:p>
        </p:txBody>
      </p:sp>
      <p:sp>
        <p:nvSpPr>
          <p:cNvPr id="291382556" name="Subtitle 2">
            <a:extLst>
              <a:ext uri="{FF2B5EF4-FFF2-40B4-BE49-F238E27FC236}">
                <a16:creationId xmlns:a16="http://schemas.microsoft.com/office/drawing/2014/main" id="{D9AACE10-F0CB-42FB-10B4-5AC08A7E1EBB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5471550" y="5106987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Обучающийся: </a:t>
            </a:r>
            <a:r>
              <a:rPr lang="ru-RU" sz="2000" dirty="0">
                <a:latin typeface="Arial"/>
                <a:ea typeface="Arial"/>
                <a:cs typeface="Arial"/>
              </a:rPr>
              <a:t>Труфанов В.Д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. 3 курс</a:t>
            </a:r>
            <a:endParaRPr sz="20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Тарасов В.С.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ст. преподаватель</a:t>
            </a:r>
            <a:endParaRPr sz="20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Консультант: Ушаков В.А. ассистент</a:t>
            </a:r>
            <a:endParaRPr lang="ru-RU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88542254" name="Subtitle 2">
            <a:extLst>
              <a:ext uri="{FF2B5EF4-FFF2-40B4-BE49-F238E27FC236}">
                <a16:creationId xmlns:a16="http://schemas.microsoft.com/office/drawing/2014/main" id="{0179FE4D-1DCF-0CDE-04E9-65E0AF7995C4}"/>
              </a:ext>
            </a:extLst>
          </p:cNvPr>
          <p:cNvSpPr>
            <a:spLocks noGrp="1"/>
          </p:cNvSpPr>
          <p:nvPr/>
        </p:nvSpPr>
        <p:spPr bwMode="auto">
          <a:xfrm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/>
          </a:p>
          <a:p>
            <a:pPr>
              <a:defRPr/>
            </a:pPr>
            <a:endParaRPr sz="36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 компьютерных наук </a:t>
            </a: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 программирования и информационных технологий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806203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310</Words>
  <Application>Microsoft Office PowerPoint</Application>
  <PresentationFormat>Широкоэкранный</PresentationFormat>
  <Paragraphs>78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SamsungOne 800C</vt:lpstr>
      <vt:lpstr>Times New Roman</vt:lpstr>
      <vt:lpstr>Office Theme</vt:lpstr>
      <vt:lpstr>Разработка мобильного приложения «Roadmap»</vt:lpstr>
      <vt:lpstr>Проблемы и актуальность</vt:lpstr>
      <vt:lpstr>Цель работы</vt:lpstr>
      <vt:lpstr>Постановка задачи</vt:lpstr>
      <vt:lpstr>Обзор аналогов</vt:lpstr>
      <vt:lpstr>Средства реализации</vt:lpstr>
      <vt:lpstr>База данных</vt:lpstr>
      <vt:lpstr>Диаграма прецедентов</vt:lpstr>
      <vt:lpstr>Реализация интерфейса</vt:lpstr>
      <vt:lpstr>Реализация интерфейса</vt:lpstr>
      <vt:lpstr>Реализация интерфейса</vt:lpstr>
      <vt:lpstr>Заключение</vt:lpstr>
      <vt:lpstr>Разработка мобильного приложения «Roadmap»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deart</dc:creator>
  <cp:lastModifiedBy>Виктор Труфанов</cp:lastModifiedBy>
  <cp:revision>7</cp:revision>
  <dcterms:modified xsi:type="dcterms:W3CDTF">2026-06-06T00:25:42Z</dcterms:modified>
</cp:coreProperties>
</file>