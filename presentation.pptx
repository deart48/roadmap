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8" d="100"/>
          <a:sy n="98" d="100"/>
        </p:scale>
        <p:origin x="428" y="64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48505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9758592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D64DB-6921-4E89-BB57-DA51E8424924}" type="datetimeFigureOut">
              <a:rPr lang="ru-RU"/>
              <a:t>07.03.2026</a:t>
            </a:fld>
            <a:endParaRPr lang="ru-RU"/>
          </a:p>
        </p:txBody>
      </p:sp>
      <p:sp>
        <p:nvSpPr>
          <p:cNvPr id="1897093488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09014150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1692571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1334909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E69ED0C-BBFD-4690-9EF1-F32FDBA46F7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0551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0552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C0FE25-B238-6FB6-2924-E823F354DA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550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9789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450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C44B56-4301-687A-B05E-CEA41E2120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2783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228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26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A301D0-F618-4155-B3D7-9CDFD453D7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009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0386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957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372413-68AE-90CB-8A8A-0A5949C2DC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1936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8715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747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B22730-45C1-25A9-2458-803BC14308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5199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5584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0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98E7C7-8E39-9699-8D79-80DA206791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2950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857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5644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28F1D3-EA14-8A80-FF35-CE54058776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1668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7631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8283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23274D-EC1B-9B43-BE0D-93A628BDC4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702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513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469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2673D7-BC86-0D30-A738-68A6B38E9F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7758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3199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34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71D3DC-0407-2849-26C2-36F01055DE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3332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2397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61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FEF255-6419-D1DE-52C5-A50AAA1182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bg>
      <p:bgPr shadeToTitle="0">
        <a:gradFill>
          <a:gsLst>
            <a:gs pos="6000">
              <a:schemeClr val="bg1"/>
            </a:gs>
            <a:gs pos="62000">
              <a:srgbClr val="5DCDFF"/>
            </a:gs>
            <a:gs pos="97000">
              <a:srgbClr val="8C62FF"/>
            </a:gs>
          </a:gsLst>
          <a:lin ang="72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3996488" name="Рисунок 29"/>
          <p:cNvPicPr>
            <a:picLocks noChangeAspect="1"/>
          </p:cNvPicPr>
          <p:nvPr userDrawn="1"/>
        </p:nvPicPr>
        <p:blipFill rotWithShape="1">
          <a:blip r:embed="rId2"/>
          <a:srcRect l="-1" t="5479" r="30930" b="31085"/>
          <a:stretch/>
        </p:blipFill>
        <p:spPr bwMode="auto">
          <a:xfrm>
            <a:off x="3323205" y="0"/>
            <a:ext cx="8868796" cy="6858000"/>
          </a:xfrm>
          <a:prstGeom prst="rect">
            <a:avLst/>
          </a:prstGeom>
        </p:spPr>
      </p:pic>
      <p:sp>
        <p:nvSpPr>
          <p:cNvPr id="1779754900" name="Заголовок 1"/>
          <p:cNvSpPr>
            <a:spLocks noGrp="1"/>
          </p:cNvSpPr>
          <p:nvPr>
            <p:ph type="ctrTitle"/>
          </p:nvPr>
        </p:nvSpPr>
        <p:spPr bwMode="auto">
          <a:xfrm>
            <a:off x="5520518" y="1406419"/>
            <a:ext cx="5833281" cy="2227482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6600">
                <a:solidFill>
                  <a:srgbClr val="00497A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12534931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5520518" y="3713056"/>
            <a:ext cx="5833281" cy="1828800"/>
          </a:xfrm>
        </p:spPr>
        <p:txBody>
          <a:bodyPr anchor="ctr">
            <a:norm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rgbClr val="00497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110907193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pPr>
              <a:defRPr/>
            </a:pPr>
            <a:fld id="{112B0F4B-37E6-4319-8F4B-24D1060A079B}" type="datetime1">
              <a:rPr lang="ru-RU"/>
              <a:t>07.03.2026</a:t>
            </a:fld>
            <a:endParaRPr lang="ru-RU"/>
          </a:p>
        </p:txBody>
      </p:sp>
      <p:sp>
        <p:nvSpPr>
          <p:cNvPr id="147176571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7080310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pPr>
              <a:defRPr/>
            </a:pPr>
            <a:fld id="{7870AAFC-F658-4D4F-B37E-DA3BC9CB41D6}" type="slidenum">
              <a:rPr lang="ru-RU"/>
              <a:t>‹#›</a:t>
            </a:fld>
            <a:endParaRPr lang="ru-RU"/>
          </a:p>
        </p:txBody>
      </p:sp>
      <p:pic>
        <p:nvPicPr>
          <p:cNvPr id="699716238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9982200" y="0"/>
            <a:ext cx="2153465" cy="1211324"/>
          </a:xfrm>
          <a:prstGeom prst="rect">
            <a:avLst/>
          </a:prstGeom>
        </p:spPr>
      </p:pic>
      <p:pic>
        <p:nvPicPr>
          <p:cNvPr id="1998433447" name="Рисунок 10"/>
          <p:cNvPicPr>
            <a:picLocks noChangeAspect="1"/>
          </p:cNvPicPr>
          <p:nvPr userDrawn="1"/>
        </p:nvPicPr>
        <p:blipFill rotWithShape="1">
          <a:blip r:embed="rId4"/>
          <a:srcRect l="35371" t="0" r="11861" b="0"/>
          <a:stretch/>
        </p:blipFill>
        <p:spPr bwMode="auto">
          <a:xfrm>
            <a:off x="645730" y="980905"/>
            <a:ext cx="4874788" cy="5196502"/>
          </a:xfrm>
          <a:prstGeom prst="rect">
            <a:avLst/>
          </a:prstGeom>
        </p:spPr>
      </p:pic>
      <p:sp>
        <p:nvSpPr>
          <p:cNvPr id="389381432" name="Прямоугольный треугольник 11"/>
          <p:cNvSpPr/>
          <p:nvPr userDrawn="1"/>
        </p:nvSpPr>
        <p:spPr bwMode="auto">
          <a:xfrm rot="8099999">
            <a:off x="813790" y="1079081"/>
            <a:ext cx="443552" cy="443552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335295848" name="Прямоугольный треугольник 12"/>
          <p:cNvSpPr/>
          <p:nvPr userDrawn="1"/>
        </p:nvSpPr>
        <p:spPr bwMode="auto">
          <a:xfrm rot="8099999">
            <a:off x="724980" y="2206207"/>
            <a:ext cx="627903" cy="627903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341643134" name="Прямоугольный треугольник 13"/>
          <p:cNvSpPr/>
          <p:nvPr userDrawn="1"/>
        </p:nvSpPr>
        <p:spPr bwMode="auto">
          <a:xfrm rot="13500000">
            <a:off x="4246229" y="1668722"/>
            <a:ext cx="627903" cy="627903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528808382" name="Прямоугольный треугольник 14"/>
          <p:cNvSpPr/>
          <p:nvPr userDrawn="1"/>
        </p:nvSpPr>
        <p:spPr bwMode="auto">
          <a:xfrm rot="13500000">
            <a:off x="241646" y="5444620"/>
            <a:ext cx="627903" cy="627903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452056212" name="Прямоугольный треугольник 15"/>
          <p:cNvSpPr/>
          <p:nvPr userDrawn="1"/>
        </p:nvSpPr>
        <p:spPr bwMode="auto">
          <a:xfrm rot="8099999">
            <a:off x="3490418" y="718813"/>
            <a:ext cx="340269" cy="340269"/>
          </a:xfrm>
          <a:prstGeom prst="rtTriangle">
            <a:avLst/>
          </a:prstGeom>
          <a:noFill/>
          <a:ln w="857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08510582" name="Прямоугольный треугольник 16"/>
          <p:cNvSpPr/>
          <p:nvPr userDrawn="1"/>
        </p:nvSpPr>
        <p:spPr bwMode="auto">
          <a:xfrm rot="8099999">
            <a:off x="3688713" y="5151587"/>
            <a:ext cx="340269" cy="340269"/>
          </a:xfrm>
          <a:prstGeom prst="rtTriangle">
            <a:avLst/>
          </a:prstGeom>
          <a:noFill/>
          <a:ln w="857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50903882" name="Полилиния: фигура 17"/>
          <p:cNvSpPr/>
          <p:nvPr userDrawn="1"/>
        </p:nvSpPr>
        <p:spPr bwMode="auto">
          <a:xfrm>
            <a:off x="5853521" y="573125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 fill="norm" stroke="1" extrusionOk="0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34925">
            <a:gradFill>
              <a:gsLst>
                <a:gs pos="0">
                  <a:srgbClr val="00AFFF"/>
                </a:gs>
                <a:gs pos="100000">
                  <a:srgbClr val="8864FF"/>
                </a:gs>
              </a:gsLst>
              <a:lin ang="7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52388630" name="Полилиния: фигура 18"/>
          <p:cNvSpPr/>
          <p:nvPr userDrawn="1"/>
        </p:nvSpPr>
        <p:spPr bwMode="auto">
          <a:xfrm>
            <a:off x="1130668" y="3065167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 fill="norm" stroke="1" extrusionOk="0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476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8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ru-RU"/>
          </a:p>
        </p:txBody>
      </p:sp>
      <p:sp>
        <p:nvSpPr>
          <p:cNvPr id="1349882408" name="Полилиния: фигура 19"/>
          <p:cNvSpPr/>
          <p:nvPr userDrawn="1"/>
        </p:nvSpPr>
        <p:spPr bwMode="auto">
          <a:xfrm>
            <a:off x="3245400" y="1701670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 fill="norm" stroke="1" extrusionOk="0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34925">
            <a:gradFill>
              <a:gsLst>
                <a:gs pos="0">
                  <a:srgbClr val="00AFFF"/>
                </a:gs>
                <a:gs pos="100000">
                  <a:srgbClr val="8864FF"/>
                </a:gs>
              </a:gsLst>
              <a:lin ang="7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22046805" name="Полилиния: фигура 20"/>
          <p:cNvSpPr/>
          <p:nvPr userDrawn="1"/>
        </p:nvSpPr>
        <p:spPr bwMode="auto">
          <a:xfrm>
            <a:off x="1356679" y="5404154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 fill="norm" stroke="1" extrusionOk="0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476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8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ru-RU"/>
          </a:p>
        </p:txBody>
      </p:sp>
      <p:sp>
        <p:nvSpPr>
          <p:cNvPr id="1340924011" name="Прямоугольный треугольник 21"/>
          <p:cNvSpPr/>
          <p:nvPr userDrawn="1"/>
        </p:nvSpPr>
        <p:spPr bwMode="auto">
          <a:xfrm rot="18900000">
            <a:off x="2386678" y="5706960"/>
            <a:ext cx="340269" cy="340269"/>
          </a:xfrm>
          <a:prstGeom prst="rtTriangle">
            <a:avLst/>
          </a:prstGeom>
          <a:noFill/>
          <a:ln w="857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79046474" name="Прямоугольный треугольник 22"/>
          <p:cNvSpPr/>
          <p:nvPr userDrawn="1"/>
        </p:nvSpPr>
        <p:spPr bwMode="auto">
          <a:xfrm rot="18900000">
            <a:off x="4710131" y="5536795"/>
            <a:ext cx="443552" cy="443552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41431753" name="Прямоугольный треугольник 23"/>
          <p:cNvSpPr/>
          <p:nvPr userDrawn="1"/>
        </p:nvSpPr>
        <p:spPr bwMode="auto">
          <a:xfrm rot="18900000">
            <a:off x="7686638" y="5679449"/>
            <a:ext cx="284803" cy="288536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61115062" name="Прямоугольный треугольник 24"/>
          <p:cNvSpPr/>
          <p:nvPr userDrawn="1"/>
        </p:nvSpPr>
        <p:spPr bwMode="auto">
          <a:xfrm rot="18900000">
            <a:off x="11138348" y="5702654"/>
            <a:ext cx="284803" cy="288536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143191749" name="Прямоугольный треугольник 25"/>
          <p:cNvSpPr/>
          <p:nvPr userDrawn="1"/>
        </p:nvSpPr>
        <p:spPr bwMode="auto">
          <a:xfrm rot="8099999">
            <a:off x="9141043" y="1166121"/>
            <a:ext cx="443552" cy="443552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683286404" name="Рисунок 33"/>
          <p:cNvPicPr>
            <a:picLocks noChangeAspect="1"/>
          </p:cNvPicPr>
          <p:nvPr userDrawn="1"/>
        </p:nvPicPr>
        <p:blipFill rotWithShape="1">
          <a:blip r:embed="rId5">
            <a:duotone>
              <a:prstClr val="black"/>
              <a:srgbClr val="00497A">
                <a:tint val="45000"/>
                <a:satMod val="400000"/>
              </a:srgbClr>
            </a:duotone>
          </a:blip>
          <a:stretch/>
        </p:blipFill>
        <p:spPr bwMode="auto">
          <a:xfrm>
            <a:off x="369629" y="404261"/>
            <a:ext cx="1276295" cy="195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Инфо Слайд">
    <p:bg>
      <p:bgPr shadeToTitle="0">
        <a:gradFill>
          <a:gsLst>
            <a:gs pos="0">
              <a:schemeClr val="bg1"/>
            </a:gs>
            <a:gs pos="38000">
              <a:srgbClr val="5DCDFF"/>
            </a:gs>
            <a:gs pos="64000">
              <a:srgbClr val="8C62FF"/>
            </a:gs>
          </a:gsLst>
          <a:lin ang="720000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76158" name="Прямоугольник 6"/>
          <p:cNvSpPr/>
          <p:nvPr userDrawn="1"/>
        </p:nvSpPr>
        <p:spPr bwMode="auto">
          <a:xfrm>
            <a:off x="75143" y="66438"/>
            <a:ext cx="12041715" cy="6725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29914930" name="Объект 2"/>
          <p:cNvSpPr>
            <a:spLocks noGrp="1"/>
          </p:cNvSpPr>
          <p:nvPr>
            <p:ph idx="1"/>
          </p:nvPr>
        </p:nvSpPr>
        <p:spPr bwMode="auto">
          <a:xfrm>
            <a:off x="838200" y="1202816"/>
            <a:ext cx="10515600" cy="4974147"/>
          </a:xfrm>
        </p:spPr>
        <p:txBody>
          <a:bodyPr>
            <a:normAutofit/>
          </a:bodyPr>
          <a:lstStyle>
            <a:lvl1pPr>
              <a:defRPr sz="1800">
                <a:solidFill>
                  <a:srgbClr val="00497A"/>
                </a:solidFill>
              </a:defRPr>
            </a:lvl1pPr>
            <a:lvl2pPr>
              <a:defRPr sz="1600">
                <a:solidFill>
                  <a:srgbClr val="00497A"/>
                </a:solidFill>
              </a:defRPr>
            </a:lvl2pPr>
            <a:lvl3pPr>
              <a:defRPr sz="1400">
                <a:solidFill>
                  <a:srgbClr val="00497A"/>
                </a:solidFill>
              </a:defRPr>
            </a:lvl3pPr>
            <a:lvl4pPr>
              <a:defRPr sz="1200">
                <a:solidFill>
                  <a:srgbClr val="00497A"/>
                </a:solidFill>
              </a:defRPr>
            </a:lvl4pPr>
            <a:lvl5pPr>
              <a:defRPr sz="1200">
                <a:solidFill>
                  <a:srgbClr val="00497A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</a:t>
            </a:r>
            <a:r>
              <a:rPr lang="ru-RU"/>
              <a:t>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0313801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pPr>
              <a:defRPr/>
            </a:pPr>
            <a:fld id="{112B0F4B-37E6-4319-8F4B-24D1060A079B}" type="datetime1">
              <a:rPr lang="ru-RU"/>
              <a:t>07.03.2026</a:t>
            </a:fld>
            <a:endParaRPr lang="ru-RU"/>
          </a:p>
        </p:txBody>
      </p:sp>
      <p:sp>
        <p:nvSpPr>
          <p:cNvPr id="66553682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9178832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pPr>
              <a:defRPr/>
            </a:pPr>
            <a:fld id="{7870AAFC-F658-4D4F-B37E-DA3BC9CB41D6}" type="slidenum">
              <a:rPr lang="ru-RU"/>
              <a:t>‹#›</a:t>
            </a:fld>
            <a:endParaRPr lang="ru-RU"/>
          </a:p>
        </p:txBody>
      </p:sp>
      <p:pic>
        <p:nvPicPr>
          <p:cNvPr id="821323792" name="Рисунок 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0461578" y="230091"/>
            <a:ext cx="1565600" cy="880650"/>
          </a:xfrm>
          <a:prstGeom prst="rect">
            <a:avLst/>
          </a:prstGeom>
        </p:spPr>
      </p:pic>
      <p:sp>
        <p:nvSpPr>
          <p:cNvPr id="428305086" name="Прямоугольный треугольник 11"/>
          <p:cNvSpPr/>
          <p:nvPr userDrawn="1"/>
        </p:nvSpPr>
        <p:spPr bwMode="auto">
          <a:xfrm rot="8099999">
            <a:off x="463203" y="707191"/>
            <a:ext cx="184546" cy="182731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18142487" name="Прямоугольный треугольник 14"/>
          <p:cNvSpPr/>
          <p:nvPr userDrawn="1"/>
        </p:nvSpPr>
        <p:spPr bwMode="auto">
          <a:xfrm rot="13500000">
            <a:off x="247432" y="1848548"/>
            <a:ext cx="390872" cy="387030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43849808" name="Прямоугольный треугольник 15"/>
          <p:cNvSpPr/>
          <p:nvPr userDrawn="1"/>
        </p:nvSpPr>
        <p:spPr bwMode="auto">
          <a:xfrm rot="8099999">
            <a:off x="452221" y="237731"/>
            <a:ext cx="211818" cy="209736"/>
          </a:xfrm>
          <a:prstGeom prst="rtTriangle">
            <a:avLst/>
          </a:prstGeom>
          <a:noFill/>
          <a:ln w="4127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72885415" name="Прямоугольный треугольник 16"/>
          <p:cNvSpPr/>
          <p:nvPr userDrawn="1"/>
        </p:nvSpPr>
        <p:spPr bwMode="auto">
          <a:xfrm rot="8099999">
            <a:off x="11630738" y="6109252"/>
            <a:ext cx="211818" cy="209736"/>
          </a:xfrm>
          <a:prstGeom prst="rtTriangle">
            <a:avLst/>
          </a:prstGeom>
          <a:noFill/>
          <a:ln w="4127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82400848" name="Прямоугольный треугольник 21"/>
          <p:cNvSpPr/>
          <p:nvPr userDrawn="1"/>
        </p:nvSpPr>
        <p:spPr bwMode="auto">
          <a:xfrm rot="18900000">
            <a:off x="640727" y="5962466"/>
            <a:ext cx="211818" cy="209736"/>
          </a:xfrm>
          <a:prstGeom prst="rtTriangle">
            <a:avLst/>
          </a:prstGeom>
          <a:noFill/>
          <a:ln w="4127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841509719" name="Прямоугольный треугольник 22"/>
          <p:cNvSpPr/>
          <p:nvPr userDrawn="1"/>
        </p:nvSpPr>
        <p:spPr bwMode="auto">
          <a:xfrm rot="18900000">
            <a:off x="3552592" y="6019366"/>
            <a:ext cx="276113" cy="273399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8110142" name="Прямоугольный треугольник 23"/>
          <p:cNvSpPr/>
          <p:nvPr userDrawn="1"/>
        </p:nvSpPr>
        <p:spPr bwMode="auto">
          <a:xfrm rot="18900000">
            <a:off x="8198253" y="6158126"/>
            <a:ext cx="177291" cy="177850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878357593" name="Прямоугольный треугольник 24"/>
          <p:cNvSpPr/>
          <p:nvPr userDrawn="1"/>
        </p:nvSpPr>
        <p:spPr bwMode="auto">
          <a:xfrm rot="18900000">
            <a:off x="11492079" y="6292570"/>
            <a:ext cx="177291" cy="177850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16866771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8202474" cy="697717"/>
          </a:xfrm>
        </p:spPr>
        <p:txBody>
          <a:bodyPr/>
          <a:lstStyle>
            <a:lvl1pPr>
              <a:lnSpc>
                <a:spcPct val="70000"/>
              </a:lnSpc>
              <a:defRPr>
                <a:solidFill>
                  <a:srgbClr val="00497A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pic>
        <p:nvPicPr>
          <p:cNvPr id="1910150959" name="Рисунок 28"/>
          <p:cNvPicPr>
            <a:picLocks noChangeAspect="1"/>
          </p:cNvPicPr>
          <p:nvPr userDrawn="1"/>
        </p:nvPicPr>
        <p:blipFill rotWithShape="1">
          <a:blip r:embed="rId3">
            <a:duotone>
              <a:prstClr val="black"/>
              <a:srgbClr val="00497A">
                <a:tint val="45000"/>
                <a:satMod val="400000"/>
              </a:srgbClr>
            </a:duotone>
          </a:blip>
          <a:stretch/>
        </p:blipFill>
        <p:spPr bwMode="auto">
          <a:xfrm>
            <a:off x="9130354" y="598091"/>
            <a:ext cx="1272875" cy="19485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21840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977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4119183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282535"/>
            <a:ext cx="10515600" cy="4894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561680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D4B0392-6652-4E63-9185-19FE4105AD5C}" type="datetime1">
              <a:rPr lang="ru-RU"/>
              <a:t>07.03.2026</a:t>
            </a:fld>
            <a:endParaRPr lang="ru-RU"/>
          </a:p>
        </p:txBody>
      </p:sp>
      <p:sp>
        <p:nvSpPr>
          <p:cNvPr id="54715293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600821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870AAFC-F658-4D4F-B37E-DA3BC9CB41D6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1" ftr="0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3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716121" name="Заголовок 3"/>
          <p:cNvSpPr>
            <a:spLocks noGrp="1"/>
          </p:cNvSpPr>
          <p:nvPr>
            <p:ph type="ctrTitle"/>
          </p:nvPr>
        </p:nvSpPr>
        <p:spPr bwMode="auto">
          <a:xfrm>
            <a:off x="5520518" y="2782041"/>
            <a:ext cx="5833281" cy="784932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ru-RU" sz="5400">
                <a:solidFill>
                  <a:schemeClr val="tx1"/>
                </a:solidFill>
              </a:rPr>
            </a:br>
            <a:r>
              <a:rPr lang="en-US" sz="7300">
                <a:solidFill>
                  <a:schemeClr val="tx1"/>
                </a:solidFill>
              </a:rPr>
              <a:t>Roadmap	</a:t>
            </a:r>
            <a:endParaRPr lang="ru-RU" sz="7300">
              <a:solidFill>
                <a:schemeClr val="tx1"/>
              </a:solidFill>
            </a:endParaRPr>
          </a:p>
        </p:txBody>
      </p:sp>
      <p:sp>
        <p:nvSpPr>
          <p:cNvPr id="474684644" name="Подзаголовок 4"/>
          <p:cNvSpPr txBox="1"/>
          <p:nvPr/>
        </p:nvSpPr>
        <p:spPr bwMode="auto">
          <a:xfrm>
            <a:off x="5520517" y="3914876"/>
            <a:ext cx="5833281" cy="7849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>
                <a:solidFill>
                  <a:srgbClr val="00497A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800"/>
              <a:t>Выполнил: </a:t>
            </a:r>
            <a:r>
              <a:rPr lang="ru-RU" sz="1800"/>
              <a:t>Труфанов Виктор Дмитриевич.</a:t>
            </a:r>
            <a:endParaRPr/>
          </a:p>
          <a:p>
            <a:pPr>
              <a:defRPr/>
            </a:pPr>
            <a:r>
              <a:rPr lang="ru-RU" sz="1800"/>
              <a:t> Студент 3 курса Факультета компьютерных наук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033837" name="Объект 1"/>
          <p:cNvSpPr>
            <a:spLocks noGrp="1"/>
          </p:cNvSpPr>
          <p:nvPr>
            <p:ph idx="1"/>
          </p:nvPr>
        </p:nvSpPr>
        <p:spPr bwMode="auto">
          <a:xfrm>
            <a:off x="838200" y="1337622"/>
            <a:ext cx="6925101" cy="474394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None/>
              <a:defRPr/>
            </a:pPr>
            <a:r>
              <a:rPr lang="ru-RU" sz="2800">
                <a:latin typeface="+mj-lt"/>
              </a:rPr>
              <a:t>Проблемы:</a:t>
            </a:r>
            <a:endParaRPr/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800">
                <a:latin typeface="+mj-lt"/>
              </a:rPr>
              <a:t>• </a:t>
            </a: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Информационный хаос</a:t>
            </a: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</a:t>
            </a:r>
            <a:endParaRPr lang="ru-RU" sz="28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• </a:t>
            </a: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Отсутствие ориентиров</a:t>
            </a:r>
            <a:endParaRPr lang="ru-RU" sz="28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  <a:p>
            <a:pPr>
              <a:defRPr/>
            </a:pPr>
            <a:endParaRPr lang="ru-RU" sz="2800">
              <a:latin typeface="+mj-lt"/>
            </a:endParaRPr>
          </a:p>
          <a:p>
            <a:pPr marL="0" indent="0">
              <a:buNone/>
              <a:defRPr/>
            </a:pPr>
            <a:r>
              <a:rPr lang="ru-RU" sz="2800">
                <a:latin typeface="+mj-lt"/>
              </a:rPr>
              <a:t>Актуальность:</a:t>
            </a:r>
            <a:endParaRPr/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800">
                <a:latin typeface="+mj-lt"/>
              </a:rPr>
              <a:t>•</a:t>
            </a: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</a:t>
            </a: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Растёт интерес к </a:t>
            </a: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осознанному карьерному развитию</a:t>
            </a:r>
            <a:endParaRPr lang="ru-RU" sz="28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• </a:t>
            </a: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Университетский контекст Roadmap как раз связывает </a:t>
            </a: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учёбу</a:t>
            </a: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с </a:t>
            </a: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понятной траекторией</a:t>
            </a: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в профессии</a:t>
            </a:r>
            <a:endParaRPr lang="ru-RU" sz="28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endParaRPr/>
          </a:p>
        </p:txBody>
      </p:sp>
      <p:sp>
        <p:nvSpPr>
          <p:cNvPr id="1299593959" name="Заголовок 4"/>
          <p:cNvSpPr>
            <a:spLocks noGrp="1"/>
          </p:cNvSpPr>
          <p:nvPr>
            <p:ph type="title"/>
          </p:nvPr>
        </p:nvSpPr>
        <p:spPr bwMode="auto">
          <a:xfrm>
            <a:off x="838200" y="502515"/>
            <a:ext cx="8202474" cy="6977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4000"/>
              <a:t>Проблемы и актуальность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62723" name="Объект 1"/>
          <p:cNvSpPr>
            <a:spLocks noGrp="1"/>
          </p:cNvSpPr>
          <p:nvPr>
            <p:ph idx="1"/>
          </p:nvPr>
        </p:nvSpPr>
        <p:spPr bwMode="auto">
          <a:xfrm flipH="0" flipV="0">
            <a:off x="838199" y="1337621"/>
            <a:ext cx="10515600" cy="474394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None/>
              <a:defRPr/>
            </a:pPr>
            <a:r>
              <a:rPr lang="ru-RU" sz="2800">
                <a:latin typeface="+mj-lt"/>
              </a:rPr>
              <a:t>Цель:</a:t>
            </a:r>
            <a:endParaRPr/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800">
                <a:latin typeface="+mj-lt"/>
              </a:rPr>
              <a:t>•</a:t>
            </a: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Разработать Android-приложение, в котором пользователь после регистрации может </a:t>
            </a:r>
            <a:r>
              <a:rPr lang="ru-RU" sz="28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проходить дорожные карты</a:t>
            </a:r>
            <a:endParaRPr/>
          </a:p>
          <a:p>
            <a:pPr marL="0" indent="0">
              <a:buNone/>
              <a:defRPr/>
            </a:pPr>
            <a:endParaRPr lang="ru-RU" sz="2800">
              <a:latin typeface="+mj-lt"/>
            </a:endParaRPr>
          </a:p>
          <a:p>
            <a:pPr marL="0" indent="0">
              <a:buNone/>
              <a:defRPr/>
            </a:pPr>
            <a:r>
              <a:rPr lang="ru-RU" sz="2800">
                <a:latin typeface="+mj-lt"/>
              </a:rPr>
              <a:t>Задачи:</a:t>
            </a:r>
            <a:endParaRPr/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800">
                <a:latin typeface="+mj-lt"/>
              </a:rPr>
              <a:t>•</a:t>
            </a:r>
            <a:r>
              <a:rPr lang="ru-RU" sz="27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Реализовать UI на </a:t>
            </a:r>
            <a:r>
              <a:rPr lang="ru-RU" sz="27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Jetpack Compose.</a:t>
            </a:r>
            <a:endParaRPr lang="ru-RU" sz="27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7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•</a:t>
            </a:r>
            <a:r>
              <a:rPr lang="ru-RU" sz="27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Настроить </a:t>
            </a:r>
            <a:r>
              <a:rPr lang="ru-RU" sz="27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сетевой слой.</a:t>
            </a:r>
            <a:endParaRPr lang="ru-RU" sz="27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7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•</a:t>
            </a:r>
            <a:r>
              <a:rPr lang="ru-RU" sz="27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Обеспечить сценарии.</a:t>
            </a:r>
            <a:endParaRPr lang="ru-RU" sz="27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7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•</a:t>
            </a:r>
            <a:r>
              <a:rPr lang="ru-RU" sz="27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Реализовать </a:t>
            </a:r>
            <a:r>
              <a:rPr lang="ru-RU" sz="27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регистрацию</a:t>
            </a:r>
            <a:r>
              <a:rPr lang="ru-RU" sz="27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, </a:t>
            </a:r>
            <a:r>
              <a:rPr lang="ru-RU" sz="27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вход</a:t>
            </a:r>
            <a:r>
              <a:rPr lang="ru-RU" sz="27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, заполнение данных профиля после регистрации</a:t>
            </a:r>
            <a:r>
              <a:rPr lang="ru-RU" sz="2700" b="0" i="0" u="none" strike="noStrike" cap="none" spc="0">
                <a:solidFill>
                  <a:srgbClr val="00497A"/>
                </a:solidFill>
                <a:latin typeface="SamsungOne 800C"/>
                <a:cs typeface="SamsungOne 800C"/>
              </a:rPr>
              <a:t>.</a:t>
            </a:r>
            <a:endParaRPr lang="ru-RU" sz="27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</p:txBody>
      </p:sp>
      <p:sp>
        <p:nvSpPr>
          <p:cNvPr id="1961600452" name="Заголовок 4"/>
          <p:cNvSpPr>
            <a:spLocks noGrp="1"/>
          </p:cNvSpPr>
          <p:nvPr>
            <p:ph type="title"/>
          </p:nvPr>
        </p:nvSpPr>
        <p:spPr bwMode="auto">
          <a:xfrm>
            <a:off x="838200" y="502515"/>
            <a:ext cx="8202474" cy="6977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4000"/>
              <a:t>Цель и задачи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973563" name="Заголовок 4"/>
          <p:cNvSpPr>
            <a:spLocks noGrp="1"/>
          </p:cNvSpPr>
          <p:nvPr>
            <p:ph type="title"/>
          </p:nvPr>
        </p:nvSpPr>
        <p:spPr bwMode="auto">
          <a:xfrm>
            <a:off x="838198" y="502515"/>
            <a:ext cx="8775357" cy="104208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4000"/>
              <a:t>Проектирование: </a:t>
            </a:r>
            <a:br>
              <a:rPr lang="ru-RU" sz="4000"/>
            </a:br>
            <a:r>
              <a:rPr lang="ru-RU" sz="4000"/>
              <a:t>диаграмма вариантов использования</a:t>
            </a:r>
            <a:endParaRPr/>
          </a:p>
        </p:txBody>
      </p:sp>
      <p:sp>
        <p:nvSpPr>
          <p:cNvPr id="889370270" name=""/>
          <p:cNvSpPr/>
          <p:nvPr/>
        </p:nvSpPr>
        <p:spPr bwMode="auto">
          <a:xfrm>
            <a:off x="9176833" y="6212416"/>
            <a:ext cx="275166" cy="12699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43200"/>
                </a:moveTo>
                <a:cubicBezTo>
                  <a:pt x="3323" y="32399"/>
                  <a:pt x="8307" y="25199"/>
                  <a:pt x="13292" y="32399"/>
                </a:cubicBezTo>
                <a:cubicBezTo>
                  <a:pt x="16615" y="21600"/>
                  <a:pt x="23261" y="14400"/>
                  <a:pt x="31569" y="10799"/>
                </a:cubicBezTo>
                <a:quadBezTo>
                  <a:pt x="38215" y="7200"/>
                  <a:pt x="43200" y="0"/>
                </a:quadBezTo>
              </a:path>
            </a:pathLst>
          </a:custGeom>
          <a:noFill/>
          <a:ln w="3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59637844" name=""/>
          <p:cNvSpPr/>
          <p:nvPr/>
        </p:nvSpPr>
        <p:spPr bwMode="auto">
          <a:xfrm>
            <a:off x="9145083" y="6212416"/>
            <a:ext cx="402166" cy="169333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37515" y="0"/>
                </a:moveTo>
                <a:cubicBezTo>
                  <a:pt x="32968" y="2699"/>
                  <a:pt x="28421" y="5400"/>
                  <a:pt x="26147" y="13499"/>
                </a:cubicBezTo>
                <a:cubicBezTo>
                  <a:pt x="20463" y="16200"/>
                  <a:pt x="18189" y="24299"/>
                  <a:pt x="22736" y="18899"/>
                </a:cubicBezTo>
                <a:cubicBezTo>
                  <a:pt x="18189" y="13499"/>
                  <a:pt x="13642" y="13499"/>
                  <a:pt x="9094" y="13499"/>
                </a:cubicBezTo>
                <a:cubicBezTo>
                  <a:pt x="5684" y="18899"/>
                  <a:pt x="2273" y="24299"/>
                  <a:pt x="0" y="32400"/>
                </a:cubicBezTo>
                <a:cubicBezTo>
                  <a:pt x="1136" y="43200"/>
                  <a:pt x="5684" y="37800"/>
                  <a:pt x="10231" y="35100"/>
                </a:cubicBezTo>
                <a:cubicBezTo>
                  <a:pt x="14778" y="32400"/>
                  <a:pt x="20463" y="32400"/>
                  <a:pt x="25010" y="32400"/>
                </a:cubicBezTo>
                <a:cubicBezTo>
                  <a:pt x="29557" y="32400"/>
                  <a:pt x="32968" y="27000"/>
                  <a:pt x="36378" y="21600"/>
                </a:cubicBezTo>
                <a:quadBezTo>
                  <a:pt x="39789" y="13499"/>
                  <a:pt x="43200" y="8099"/>
                </a:quadBez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3184048" name=""/>
          <p:cNvSpPr/>
          <p:nvPr/>
        </p:nvSpPr>
        <p:spPr bwMode="auto">
          <a:xfrm>
            <a:off x="9536666" y="6159499"/>
            <a:ext cx="158749" cy="63499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0" y="0"/>
                </a:moveTo>
                <a:cubicBezTo>
                  <a:pt x="14399" y="7200"/>
                  <a:pt x="23039" y="21600"/>
                  <a:pt x="34559" y="28800"/>
                </a:cubicBezTo>
                <a:lnTo>
                  <a:pt x="43200" y="43200"/>
                </a:lnTo>
              </a:path>
            </a:pathLst>
          </a:custGeom>
          <a:noFill/>
          <a:ln w="126000">
            <a:solidFill>
              <a:srgbClr val="FFFFFF">
                <a:alpha val="99999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1084063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813901" y="1340230"/>
            <a:ext cx="4979548" cy="5135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431866" name="Заголовок 4"/>
          <p:cNvSpPr>
            <a:spLocks noGrp="1"/>
          </p:cNvSpPr>
          <p:nvPr>
            <p:ph type="title"/>
          </p:nvPr>
        </p:nvSpPr>
        <p:spPr bwMode="auto">
          <a:xfrm flipH="0" flipV="0">
            <a:off x="838199" y="258485"/>
            <a:ext cx="8821427" cy="104207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marR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600"/>
              <a:t>Сценарий:</a:t>
            </a:r>
            <a:br>
              <a:rPr lang="ru-RU" sz="2600"/>
            </a:br>
            <a:r>
              <a:rPr lang="ru-RU" sz="26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Основное приложение (нижняя навигация)</a:t>
            </a:r>
            <a:endParaRPr sz="26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</p:txBody>
      </p:sp>
      <p:pic>
        <p:nvPicPr>
          <p:cNvPr id="5236486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27256" y="1401198"/>
            <a:ext cx="9846979" cy="4710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790695" name="Заголовок 4"/>
          <p:cNvSpPr>
            <a:spLocks noGrp="1"/>
          </p:cNvSpPr>
          <p:nvPr>
            <p:ph type="title"/>
          </p:nvPr>
        </p:nvSpPr>
        <p:spPr bwMode="auto">
          <a:xfrm>
            <a:off x="838200" y="502515"/>
            <a:ext cx="8202474" cy="69771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marL="0" marR="0" indent="0" algn="l">
              <a:lnSpc>
                <a:spcPct val="6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050" b="1" i="0" u="none">
                <a:solidFill>
                  <a:srgbClr val="79C0FF"/>
                </a:solidFill>
                <a:latin typeface="Droid Sans Mono"/>
                <a:ea typeface="Droid Sans Mono"/>
                <a:cs typeface="Droid Sans Mono"/>
              </a:rPr>
              <a:t> </a:t>
            </a:r>
            <a:r>
              <a:rPr lang="ru-RU" sz="36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Стек </a:t>
            </a:r>
            <a:r>
              <a:rPr lang="ru-RU" sz="36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Тех</a:t>
            </a:r>
            <a:r>
              <a:rPr lang="ru-RU" sz="4000"/>
              <a:t>нологий</a:t>
            </a:r>
            <a:endParaRPr/>
          </a:p>
        </p:txBody>
      </p:sp>
      <p:sp>
        <p:nvSpPr>
          <p:cNvPr id="2131456898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838199" y="1869565"/>
            <a:ext cx="10897574" cy="2711958"/>
          </a:xfrm>
        </p:spPr>
        <p:txBody>
          <a:bodyPr>
            <a:normAutofit/>
          </a:bodyPr>
          <a:lstStyle>
            <a:lvl1pPr>
              <a:defRPr sz="1800">
                <a:solidFill>
                  <a:srgbClr val="00497A"/>
                </a:solidFill>
              </a:defRPr>
            </a:lvl1pPr>
            <a:lvl2pPr>
              <a:defRPr sz="1600">
                <a:solidFill>
                  <a:srgbClr val="00497A"/>
                </a:solidFill>
              </a:defRPr>
            </a:lvl2pPr>
            <a:lvl3pPr>
              <a:defRPr sz="1400">
                <a:solidFill>
                  <a:srgbClr val="00497A"/>
                </a:solidFill>
              </a:defRPr>
            </a:lvl3pPr>
            <a:lvl4pPr>
              <a:defRPr sz="1200">
                <a:solidFill>
                  <a:srgbClr val="00497A"/>
                </a:solidFill>
              </a:defRPr>
            </a:lvl4pPr>
            <a:lvl5pPr>
              <a:defRPr sz="1200">
                <a:solidFill>
                  <a:srgbClr val="00497A"/>
                </a:solidFill>
              </a:defRPr>
            </a:lvl5pPr>
          </a:lstStyle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UI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-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Kotlin, Jetpack Compose, Material 3 </a:t>
            </a:r>
            <a:endParaRPr lang="ru-RU" sz="2500" b="0" i="0" u="none" strike="noStrike" cap="none" spc="0">
              <a:solidFill>
                <a:srgbClr val="00497A"/>
              </a:solidFill>
              <a:latin typeface="SamsungOne 800C"/>
              <a:ea typeface="SamsungOne 800C"/>
              <a:cs typeface="SamsungOne 800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Навигация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-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Navigation Compose</a:t>
            </a:r>
            <a:endParaRPr lang="ru-RU" sz="25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Сеть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-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Retrofit, OkHttp, kotlinx.serialization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</a:t>
            </a:r>
            <a:endParaRPr lang="ru-RU" sz="25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Изображения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-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Coil (обложки и иллюстрации к карточкам дорожных карт) </a:t>
            </a:r>
            <a:endParaRPr lang="ru-RU" sz="3200" b="0" i="0" u="none" strike="noStrike" cap="none" spc="0">
              <a:solidFill>
                <a:srgbClr val="00497A"/>
              </a:solidFill>
              <a:latin typeface="SamsungOne 800C"/>
              <a:ea typeface="SamsungOne 800C"/>
              <a:cs typeface="SamsungOne 800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520469" name="Объект 1"/>
          <p:cNvSpPr>
            <a:spLocks noGrp="1"/>
          </p:cNvSpPr>
          <p:nvPr>
            <p:ph idx="1"/>
          </p:nvPr>
        </p:nvSpPr>
        <p:spPr bwMode="auto">
          <a:xfrm flipH="0" flipV="0">
            <a:off x="838199" y="1337621"/>
            <a:ext cx="7249500" cy="474394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800">
                <a:latin typeface="+mj-lt"/>
              </a:rPr>
              <a:t>В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изуальный стиль ориентирован на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читаемость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и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минимализм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: преобладают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белый фон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,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чёрный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текст и акценты</a:t>
            </a:r>
            <a:r>
              <a:rPr lang="en-US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,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обводки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у карточек и кнопок.</a:t>
            </a:r>
            <a:r>
              <a:rPr sz="1050" b="0" i="0" u="none">
                <a:solidFill>
                  <a:srgbClr val="E6EDF3"/>
                </a:solidFill>
                <a:latin typeface="Droid Sans Mono"/>
                <a:ea typeface="Droid Sans Mono"/>
                <a:cs typeface="Droid Sans Mono"/>
              </a:rPr>
              <a:t>.</a:t>
            </a:r>
            <a:endParaRPr/>
          </a:p>
        </p:txBody>
      </p:sp>
      <p:sp>
        <p:nvSpPr>
          <p:cNvPr id="1632208184" name="Заголовок 4"/>
          <p:cNvSpPr>
            <a:spLocks noGrp="1"/>
          </p:cNvSpPr>
          <p:nvPr>
            <p:ph type="title"/>
          </p:nvPr>
        </p:nvSpPr>
        <p:spPr bwMode="auto">
          <a:xfrm>
            <a:off x="838200" y="502515"/>
            <a:ext cx="8202474" cy="6977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4000"/>
              <a:t>Дизайн приложения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761883" name="Заголовок 4"/>
          <p:cNvSpPr>
            <a:spLocks noGrp="1"/>
          </p:cNvSpPr>
          <p:nvPr>
            <p:ph type="title"/>
          </p:nvPr>
        </p:nvSpPr>
        <p:spPr bwMode="auto">
          <a:xfrm>
            <a:off x="838200" y="502515"/>
            <a:ext cx="8202474" cy="6977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4000"/>
              <a:t>Основные экраны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049007" name="Объект 1"/>
          <p:cNvSpPr>
            <a:spLocks noGrp="1"/>
          </p:cNvSpPr>
          <p:nvPr>
            <p:ph idx="1"/>
          </p:nvPr>
        </p:nvSpPr>
        <p:spPr bwMode="auto">
          <a:xfrm>
            <a:off x="838200" y="1337622"/>
            <a:ext cx="6925101" cy="474394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-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Довести сценарий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восстановления пароля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.</a:t>
            </a:r>
            <a:endParaRPr lang="ru-RU" sz="25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-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Расширить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уведомления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или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напоминания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о этапах.</a:t>
            </a:r>
            <a:endParaRPr lang="ru-RU" sz="25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-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Публикация в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Google Play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.</a:t>
            </a:r>
            <a:endParaRPr/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-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Добавление конструктора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создания свои дорожных карт</a:t>
            </a:r>
            <a:endParaRPr lang="ru-RU" sz="25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-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Добавление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ai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ассистента</a:t>
            </a:r>
            <a:endParaRPr/>
          </a:p>
        </p:txBody>
      </p:sp>
      <p:sp>
        <p:nvSpPr>
          <p:cNvPr id="441514884" name="Заголовок 4"/>
          <p:cNvSpPr>
            <a:spLocks noGrp="1"/>
          </p:cNvSpPr>
          <p:nvPr>
            <p:ph type="title"/>
          </p:nvPr>
        </p:nvSpPr>
        <p:spPr bwMode="auto">
          <a:xfrm>
            <a:off x="838200" y="502515"/>
            <a:ext cx="8202474" cy="6977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4000"/>
              <a:t>Планы развития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554885" name="Объект 1"/>
          <p:cNvSpPr>
            <a:spLocks noGrp="1"/>
          </p:cNvSpPr>
          <p:nvPr>
            <p:ph idx="1"/>
          </p:nvPr>
        </p:nvSpPr>
        <p:spPr bwMode="auto">
          <a:xfrm flipH="0" flipV="0">
            <a:off x="838199" y="1337621"/>
            <a:ext cx="10773749" cy="474394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	В ходе работы создан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работающее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Android-приложение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Roadmap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: реализованы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авторизация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,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каталог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дорожных карт,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экран этапов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,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профиль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и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редактирование профиля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, интеграция с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REST AP*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и учёт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прогресса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и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избранного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.</a:t>
            </a:r>
            <a:endParaRPr lang="ru-RU" sz="2500" b="0" i="0" u="none" strike="noStrike" cap="none" spc="0">
              <a:solidFill>
                <a:srgbClr val="00497A"/>
              </a:solidFill>
              <a:latin typeface="SamsungOne 800C"/>
              <a:ea typeface="SamsungOne 800C"/>
              <a:cs typeface="SamsungOne 800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	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Проект демонстрирует 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полный цикл</a:t>
            </a:r>
            <a:r>
              <a:rPr lang="ru-RU" sz="2500" b="0" i="0" u="none" strike="noStrike" cap="none" spc="0">
                <a:solidFill>
                  <a:srgbClr val="00497A"/>
                </a:solidFill>
                <a:latin typeface="SamsungOne 800C"/>
                <a:ea typeface="SamsungOne 800C"/>
                <a:cs typeface="SamsungOne 800C"/>
              </a:rPr>
              <a:t> разработки клиентской части: от навигации и Compose-экранов до сетевого слоя и хранения токена.</a:t>
            </a:r>
            <a:endParaRPr lang="ru-RU" sz="2500" b="0" i="0" u="none" strike="noStrike" cap="none" spc="0">
              <a:solidFill>
                <a:srgbClr val="00497A"/>
              </a:solidFill>
              <a:latin typeface="SamsungOne 800C"/>
              <a:cs typeface="SamsungOne 800C"/>
            </a:endParaRPr>
          </a:p>
          <a:p>
            <a:pPr marL="0" marR="0" indent="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defRPr/>
            </a:pPr>
            <a:endParaRPr lang="ru-RU" sz="2800" b="1">
              <a:latin typeface="+mj-lt"/>
            </a:endParaRPr>
          </a:p>
        </p:txBody>
      </p:sp>
      <p:sp>
        <p:nvSpPr>
          <p:cNvPr id="56687175" name="Заголовок 4"/>
          <p:cNvSpPr>
            <a:spLocks noGrp="1"/>
          </p:cNvSpPr>
          <p:nvPr>
            <p:ph type="title"/>
          </p:nvPr>
        </p:nvSpPr>
        <p:spPr bwMode="auto">
          <a:xfrm>
            <a:off x="838200" y="502515"/>
            <a:ext cx="8202474" cy="69771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4000"/>
              <a:t>Заключение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176549" name="Заголовок 4"/>
          <p:cNvSpPr>
            <a:spLocks noGrp="1"/>
          </p:cNvSpPr>
          <p:nvPr>
            <p:ph type="title"/>
          </p:nvPr>
        </p:nvSpPr>
        <p:spPr bwMode="auto">
          <a:xfrm>
            <a:off x="1322525" y="1465930"/>
            <a:ext cx="8822371" cy="3926139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8800"/>
              <a:t>Спасибо за внимание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Samsung Fonts">
      <a:majorFont>
        <a:latin typeface="SamsungOne 800C"/>
        <a:ea typeface="Arial"/>
        <a:cs typeface="Arial"/>
      </a:majorFont>
      <a:minorFont>
        <a:latin typeface="SamsungOne 450C"/>
        <a:ea typeface="Arial"/>
        <a:cs typeface="Arial"/>
      </a:minorFont>
    </a:fontScheme>
    <a:fmtScheme name="Тонкие сплошные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SAMSUNG IT Academy Kotlin Course</dc:title>
  <dc:creator>Roman Lesovoy</dc:creator>
  <cp:lastModifiedBy/>
  <cp:revision>26</cp:revision>
  <dcterms:created xsi:type="dcterms:W3CDTF">2020-10-18T13:39:56Z</dcterms:created>
  <dcterms:modified xsi:type="dcterms:W3CDTF">2026-04-30T20:29:24Z</dcterms:modified>
</cp:coreProperties>
</file>